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918400" cy="36576000"/>
  <p:notesSz cx="365760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42976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VANTIS CORP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828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Situational Awareness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0" y="320040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3108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 Risk Intelligence System (ORIS)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108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Space Debris Collision Assessment &amp; Autonomous Mitigation Platform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Vantis Corp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014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Orbital Analytics &amp; Blockchain Audit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170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 |  July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617720"/>
            <a:ext cx="15544800" cy="11612880"/>
          </a:xfrm>
          <a:prstGeom prst="roundRect">
            <a:avLst>
              <a:gd name="adj" fmla="val 945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491032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646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818888"/>
            <a:ext cx="1435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5532120"/>
            <a:ext cx="14904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Earth Orbit is increasingly congested: thousands of active satellites now share space with debris from decades of fragmentation events. The Cosmos 2251 / Iridium 33 collision (2009) and the Fengyun-1C (2007) and Cosmos 1408 (2021) anti-satellite tests alone generated tens of thousands of tracked fragments. Most existing space-situational-awareness tools stop at detection, leaving the maneuver decision — and the paperwork that follows — to human operators, a process too slow for closing-velocity conjunctions.</a:t>
            </a: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endParaRPr lang="en-US" sz="16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Orbital Risk Intelligence System (ORIS) closes that gap. It ingests live Two-Line Element (TLE) sets from CelesTrak, propagates every tracked satellite and debris object using the SGP4 model, and continuously classifies conjunction risk. When a predicted encounter breaches the critical threshold (&lt; 1 km), ORIS does not just alert — it autonomously executes an avoidance-maneuver contract and writes a SHA-256 hash-chained audit block, producing a verifiable, tamper-evident record of the response for mission-control review.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9829800"/>
            <a:ext cx="14904720" cy="6080760"/>
          </a:xfrm>
          <a:prstGeom prst="roundRect">
            <a:avLst>
              <a:gd name="adj" fmla="val 1504"/>
            </a:avLst>
          </a:prstGeom>
          <a:solidFill>
            <a:srgbClr val="0B1D3A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10104120"/>
            <a:ext cx="1435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USP — DETECTION → AUTONOMOUS EXECUTION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10698480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10689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10607040"/>
            <a:ext cx="1385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Avoidance Triggered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10917936"/>
            <a:ext cx="13853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CRITICAL breach (&lt; 1 km), ORIS auto-initiates an avoidance-maneuver contract (ORIS-MIT-…) — no operator approval required.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12329160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1232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12237720"/>
            <a:ext cx="1385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Blockchain Ledger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83080" y="12548616"/>
            <a:ext cx="13853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 state vectors, distance, and timestamp are hashed (SHA-256) into an AuditLog block linked to the previous block via prev_hash.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80160" y="13959840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13950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83080" y="13868400"/>
            <a:ext cx="1385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Incident Register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14179296"/>
            <a:ext cx="13853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record is created in the critical-incident registry for mission-control auditing and post-event review.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687800" y="4617720"/>
            <a:ext cx="15544800" cy="11612880"/>
          </a:xfrm>
          <a:prstGeom prst="roundRect">
            <a:avLst>
              <a:gd name="adj" fmla="val 945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7007840" y="491032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2" name="Text 30"/>
          <p:cNvSpPr/>
          <p:nvPr/>
        </p:nvSpPr>
        <p:spPr>
          <a:xfrm>
            <a:off x="17007840" y="48646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556480" y="4818888"/>
            <a:ext cx="1435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7007840" y="5623560"/>
            <a:ext cx="384048" cy="38404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5" name="Text 33"/>
          <p:cNvSpPr/>
          <p:nvPr/>
        </p:nvSpPr>
        <p:spPr>
          <a:xfrm>
            <a:off x="17007840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529048" y="5532120"/>
            <a:ext cx="1435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Layer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7529048" y="5879592"/>
            <a:ext cx="1435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CelesTrak TLE fetch (httpx) on a 6-hr APScheduler cycle; resilient fallback TLEs; stored via SQLAlchemy (Satellite, Debris, TLERecord) in SQLite.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7007840" y="7324344"/>
            <a:ext cx="384048" cy="38404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17007840" y="7315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7529048" y="7232904"/>
            <a:ext cx="1435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Propagation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7529048" y="7580376"/>
            <a:ext cx="1435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SGP4 model via Skyfield computes GCRS position &amp; velocity vectors for any object at any timestamp.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17007840" y="9025128"/>
            <a:ext cx="384048" cy="38404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43" name="Text 41"/>
          <p:cNvSpPr/>
          <p:nvPr/>
        </p:nvSpPr>
        <p:spPr>
          <a:xfrm>
            <a:off x="17007840" y="9015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7529048" y="8933688"/>
            <a:ext cx="1435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Engine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7529048" y="9281160"/>
            <a:ext cx="1435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separation distance → 3-tier classification (CRITICAL / WARNING / SAFE) → multi-hour Time-of-Closest-Approach (TCA) search with confidence grading.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7007840" y="10725912"/>
            <a:ext cx="384048" cy="38404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47" name="Text 45"/>
          <p:cNvSpPr/>
          <p:nvPr/>
        </p:nvSpPr>
        <p:spPr>
          <a:xfrm>
            <a:off x="17007840" y="10716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7529048" y="10634472"/>
            <a:ext cx="1435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Response Engine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7529048" y="10981944"/>
            <a:ext cx="1435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CRITICAL breach: incident record created → SHA-256 block chained to previous hash → simulated avoidance-maneuver &amp; insurance contract executed. No human step.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7007840" y="12426696"/>
            <a:ext cx="384048" cy="38404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51" name="Text 49"/>
          <p:cNvSpPr/>
          <p:nvPr/>
        </p:nvSpPr>
        <p:spPr>
          <a:xfrm>
            <a:off x="17007840" y="1241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7529048" y="12335256"/>
            <a:ext cx="1435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Dashboard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7529048" y="12682728"/>
            <a:ext cx="1435608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 real-time UI: interactive 3D globe, risk panels, TCA timeline chart, audit-trail explorer.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17007840" y="14264640"/>
            <a:ext cx="1490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17007840" y="14648688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56" name="Text 54"/>
          <p:cNvSpPr/>
          <p:nvPr/>
        </p:nvSpPr>
        <p:spPr>
          <a:xfrm>
            <a:off x="17007840" y="14648688"/>
            <a:ext cx="98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8155412" y="1464868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58" name="Text 56"/>
          <p:cNvSpPr/>
          <p:nvPr/>
        </p:nvSpPr>
        <p:spPr>
          <a:xfrm>
            <a:off x="18155412" y="1464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9645884" y="14648688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0" name="Text 58"/>
          <p:cNvSpPr/>
          <p:nvPr/>
        </p:nvSpPr>
        <p:spPr>
          <a:xfrm>
            <a:off x="19645884" y="14648688"/>
            <a:ext cx="1897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Skyfield / SGP4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1707856" y="14648688"/>
            <a:ext cx="7543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2" name="Text 60"/>
          <p:cNvSpPr/>
          <p:nvPr/>
        </p:nvSpPr>
        <p:spPr>
          <a:xfrm>
            <a:off x="21707856" y="14648688"/>
            <a:ext cx="75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2626828" y="14648688"/>
            <a:ext cx="14401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4" name="Text 62"/>
          <p:cNvSpPr/>
          <p:nvPr/>
        </p:nvSpPr>
        <p:spPr>
          <a:xfrm>
            <a:off x="22626828" y="14648688"/>
            <a:ext cx="1440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4231600" y="14648688"/>
            <a:ext cx="7543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6" name="Text 64"/>
          <p:cNvSpPr/>
          <p:nvPr/>
        </p:nvSpPr>
        <p:spPr>
          <a:xfrm>
            <a:off x="24231600" y="14648688"/>
            <a:ext cx="754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5150572" y="1464868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8" name="Text 66"/>
          <p:cNvSpPr/>
          <p:nvPr/>
        </p:nvSpPr>
        <p:spPr>
          <a:xfrm>
            <a:off x="25150572" y="1464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641044" y="146486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70" name="Text 68"/>
          <p:cNvSpPr/>
          <p:nvPr/>
        </p:nvSpPr>
        <p:spPr>
          <a:xfrm>
            <a:off x="26641044" y="14648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7902916" y="146486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72" name="Text 70"/>
          <p:cNvSpPr/>
          <p:nvPr/>
        </p:nvSpPr>
        <p:spPr>
          <a:xfrm>
            <a:off x="27902916" y="14648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9164788" y="1464868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74" name="Text 72"/>
          <p:cNvSpPr/>
          <p:nvPr/>
        </p:nvSpPr>
        <p:spPr>
          <a:xfrm>
            <a:off x="29164788" y="146486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0426660" y="1464868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76" name="Text 74"/>
          <p:cNvSpPr/>
          <p:nvPr/>
        </p:nvSpPr>
        <p:spPr>
          <a:xfrm>
            <a:off x="30426660" y="1464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85800" y="16596360"/>
            <a:ext cx="15544800" cy="13624560"/>
          </a:xfrm>
          <a:prstGeom prst="roundRect">
            <a:avLst>
              <a:gd name="adj" fmla="val 805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005840" y="1688896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79" name="Text 77"/>
          <p:cNvSpPr/>
          <p:nvPr/>
        </p:nvSpPr>
        <p:spPr>
          <a:xfrm>
            <a:off x="1005840" y="16843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554480" y="16797528"/>
            <a:ext cx="1435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</a:t>
            </a:r>
            <a:endParaRPr lang="en-US" sz="2400" dirty="0"/>
          </a:p>
        </p:txBody>
      </p:sp>
      <p:sp>
        <p:nvSpPr>
          <p:cNvPr id="81" name="Text 79"/>
          <p:cNvSpPr/>
          <p:nvPr/>
        </p:nvSpPr>
        <p:spPr>
          <a:xfrm>
            <a:off x="1005840" y="17510760"/>
            <a:ext cx="1490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ORIS, a full-stack platform that autonomously ingests orbital element data, predicts conjunction risk between satellites and debris in real time, and — without human intervention — triggers and cryptographically audits an avoidance response the moment risk crosses a critical threshold.</a:t>
            </a:r>
            <a:endParaRPr lang="en-US" sz="1550" dirty="0"/>
          </a:p>
        </p:txBody>
      </p:sp>
      <p:sp>
        <p:nvSpPr>
          <p:cNvPr id="82" name="Shape 80"/>
          <p:cNvSpPr/>
          <p:nvPr/>
        </p:nvSpPr>
        <p:spPr>
          <a:xfrm>
            <a:off x="1005840" y="1912924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83" name="Text 81"/>
          <p:cNvSpPr/>
          <p:nvPr/>
        </p:nvSpPr>
        <p:spPr>
          <a:xfrm>
            <a:off x="1005840" y="190835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554480" y="19037808"/>
            <a:ext cx="1435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85" name="Shape 83"/>
          <p:cNvSpPr/>
          <p:nvPr/>
        </p:nvSpPr>
        <p:spPr>
          <a:xfrm>
            <a:off x="1005840" y="19751040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86" name="Text 84"/>
          <p:cNvSpPr/>
          <p:nvPr/>
        </p:nvSpPr>
        <p:spPr>
          <a:xfrm>
            <a:off x="1005840" y="19741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1508760" y="19641312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ingest and refresh TLE catalogs for tracked satellites and debris from CelesTrak via a scheduled background service (6-hour cycle), with resilient fallback TLEs for offline continuity.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1005840" y="21195792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89" name="Text 87"/>
          <p:cNvSpPr/>
          <p:nvPr/>
        </p:nvSpPr>
        <p:spPr>
          <a:xfrm>
            <a:off x="1005840" y="21186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1508760" y="21086064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precise state vectors (position &amp; velocity) using the SGP4 model in the GCRS reference frame for any tracked object at any timestamp.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1005840" y="22640544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92" name="Text 90"/>
          <p:cNvSpPr/>
          <p:nvPr/>
        </p:nvSpPr>
        <p:spPr>
          <a:xfrm>
            <a:off x="1005840" y="22631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1508760" y="22530816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conjunction risk against distance thresholds (CRITICAL &lt; 1 km, WARNING 1–5 km, SAFE &gt; 5 km) and predict Time of Closest Approach over configurable propagation windows.</a:t>
            </a:r>
            <a:endParaRPr lang="en-US" sz="1350" dirty="0"/>
          </a:p>
        </p:txBody>
      </p:sp>
      <p:sp>
        <p:nvSpPr>
          <p:cNvPr id="94" name="Shape 92"/>
          <p:cNvSpPr/>
          <p:nvPr/>
        </p:nvSpPr>
        <p:spPr>
          <a:xfrm>
            <a:off x="1005840" y="24085296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95" name="Text 93"/>
          <p:cNvSpPr/>
          <p:nvPr/>
        </p:nvSpPr>
        <p:spPr>
          <a:xfrm>
            <a:off x="1005840" y="2407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1508760" y="23975568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 critical-response engine that creates incident records and executes simulated avoidance-maneuver and insurance contracts on breach — zero manual steps.</a:t>
            </a:r>
            <a:endParaRPr lang="en-US" sz="1350" dirty="0"/>
          </a:p>
        </p:txBody>
      </p:sp>
      <p:sp>
        <p:nvSpPr>
          <p:cNvPr id="97" name="Shape 95"/>
          <p:cNvSpPr/>
          <p:nvPr/>
        </p:nvSpPr>
        <p:spPr>
          <a:xfrm>
            <a:off x="1005840" y="25530048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98" name="Text 96"/>
          <p:cNvSpPr/>
          <p:nvPr/>
        </p:nvSpPr>
        <p:spPr>
          <a:xfrm>
            <a:off x="1005840" y="2552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1508760" y="25420320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immutable SHA-256 hash-chained audit ledger and an interactive real-time 3D dashboard for mission-control visualization and verification.</a:t>
            </a:r>
            <a:endParaRPr lang="en-US" sz="1350" dirty="0"/>
          </a:p>
        </p:txBody>
      </p:sp>
      <p:sp>
        <p:nvSpPr>
          <p:cNvPr id="100" name="Shape 98"/>
          <p:cNvSpPr/>
          <p:nvPr/>
        </p:nvSpPr>
        <p:spPr>
          <a:xfrm>
            <a:off x="1005840" y="26974800"/>
            <a:ext cx="365760" cy="36576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01" name="Text 99"/>
          <p:cNvSpPr/>
          <p:nvPr/>
        </p:nvSpPr>
        <p:spPr>
          <a:xfrm>
            <a:off x="1005840" y="2696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1508760" y="26865072"/>
            <a:ext cx="14356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 documented REST API surface (/assess, /predict, /audit-logs, /incidents) so third-party mission-control tools and future ML-based risk models can integrate directly.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16687800" y="16596360"/>
            <a:ext cx="15544800" cy="13624560"/>
          </a:xfrm>
          <a:prstGeom prst="roundRect">
            <a:avLst>
              <a:gd name="adj" fmla="val 805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7007840" y="1688896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05" name="Text 103"/>
          <p:cNvSpPr/>
          <p:nvPr/>
        </p:nvSpPr>
        <p:spPr>
          <a:xfrm>
            <a:off x="17007840" y="16843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17556480" y="16797528"/>
            <a:ext cx="1435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/ Experimental Setup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17007840" y="17510760"/>
            <a:ext cx="1490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ORIS was validated against a seeded catalog of 8 operational satellites (ISS, Hubble, NOAA-19, Terra, Aqua, Landsat 9, CryoSat 2, Sentinel-6A) and 8 tracked debris objects sourced from real fragmentation events — the Cosmos 2251 / Iridium 33 collision, the Fengyun-1C and Cosmos 1408 ASAT tests, and spent rocket bodies. Resilient fallback TLE sets guarantee propagation continuity even if CelesTrak is unreachable.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17236440" y="19202400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09" name="Text 107"/>
          <p:cNvSpPr/>
          <p:nvPr/>
        </p:nvSpPr>
        <p:spPr>
          <a:xfrm>
            <a:off x="17236440" y="19202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1181040" y="19202400"/>
            <a:ext cx="502920" cy="50292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111" name="Text 109"/>
          <p:cNvSpPr/>
          <p:nvPr/>
        </p:nvSpPr>
        <p:spPr>
          <a:xfrm>
            <a:off x="31181040" y="19202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17739360" y="19453860"/>
            <a:ext cx="1344168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dash"/>
          </a:ln>
        </p:spPr>
      </p:sp>
      <p:sp>
        <p:nvSpPr>
          <p:cNvPr id="113" name="Text 111"/>
          <p:cNvSpPr/>
          <p:nvPr/>
        </p:nvSpPr>
        <p:spPr>
          <a:xfrm>
            <a:off x="17739360" y="18909792"/>
            <a:ext cx="1344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  →  classify_risk()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17007840" y="199796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115" name="Text 113"/>
          <p:cNvSpPr/>
          <p:nvPr/>
        </p:nvSpPr>
        <p:spPr>
          <a:xfrm>
            <a:off x="17007840" y="19979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&gt;5 km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22037040" y="199796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E8A1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22037040" y="19979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1–5 km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27066240" y="199796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D9331F"/>
          </a:solidFill>
          <a:ln/>
        </p:spPr>
      </p:sp>
      <p:sp>
        <p:nvSpPr>
          <p:cNvPr id="119" name="Text 117"/>
          <p:cNvSpPr/>
          <p:nvPr/>
        </p:nvSpPr>
        <p:spPr>
          <a:xfrm>
            <a:off x="27066240" y="19979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&lt;1 km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17007840" y="20619720"/>
            <a:ext cx="1490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select any satellite–debris pair on the dashboard and invoke:</a:t>
            </a:r>
            <a:endParaRPr lang="en-US" sz="1350" dirty="0"/>
          </a:p>
        </p:txBody>
      </p:sp>
      <p:sp>
        <p:nvSpPr>
          <p:cNvPr id="121" name="Text 119"/>
          <p:cNvSpPr/>
          <p:nvPr/>
        </p:nvSpPr>
        <p:spPr>
          <a:xfrm>
            <a:off x="17007840" y="21031200"/>
            <a:ext cx="1490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ASSESSMENT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Instantaneous separation distance, relative velocity, and risk classification.</a:t>
            </a:r>
            <a:endParaRPr lang="en-US" sz="1250" dirty="0"/>
          </a:p>
        </p:txBody>
      </p:sp>
      <p:sp>
        <p:nvSpPr>
          <p:cNvPr id="122" name="Text 120"/>
          <p:cNvSpPr/>
          <p:nvPr/>
        </p:nvSpPr>
        <p:spPr>
          <a:xfrm>
            <a:off x="17007840" y="21835872"/>
            <a:ext cx="1490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TCA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Multi-hour SGP4 propagation sweep to find Time of Closest Approach.</a:t>
            </a:r>
            <a:endParaRPr lang="en-US" sz="1250" dirty="0"/>
          </a:p>
        </p:txBody>
      </p:sp>
      <p:sp>
        <p:nvSpPr>
          <p:cNvPr id="123" name="Text 121"/>
          <p:cNvSpPr/>
          <p:nvPr/>
        </p:nvSpPr>
        <p:spPr>
          <a:xfrm>
            <a:off x="17007840" y="22640544"/>
            <a:ext cx="1490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DRILL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Forces a &lt;1 km encounter to validate the autonomous response pipeline end-to-end.</a:t>
            </a:r>
            <a:endParaRPr lang="en-US" sz="1250" dirty="0"/>
          </a:p>
        </p:txBody>
      </p:sp>
      <p:sp>
        <p:nvSpPr>
          <p:cNvPr id="124" name="Text 122"/>
          <p:cNvSpPr/>
          <p:nvPr/>
        </p:nvSpPr>
        <p:spPr>
          <a:xfrm>
            <a:off x="17007840" y="23445216"/>
            <a:ext cx="1490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REGISTER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Inspects the SHA-256 hash-chain ledger for tamper-evident verification.</a:t>
            </a:r>
            <a:endParaRPr lang="en-US" sz="1250" dirty="0"/>
          </a:p>
        </p:txBody>
      </p:sp>
      <p:sp>
        <p:nvSpPr>
          <p:cNvPr id="125" name="Text 123"/>
          <p:cNvSpPr/>
          <p:nvPr/>
        </p:nvSpPr>
        <p:spPr>
          <a:xfrm>
            <a:off x="17007840" y="24387048"/>
            <a:ext cx="1490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CONFIDENCE GRADING</a:t>
            </a:r>
            <a:endParaRPr lang="en-US" sz="1250" dirty="0"/>
          </a:p>
        </p:txBody>
      </p:sp>
      <p:sp>
        <p:nvSpPr>
          <p:cNvPr id="126" name="Shape 124"/>
          <p:cNvSpPr/>
          <p:nvPr/>
        </p:nvSpPr>
        <p:spPr>
          <a:xfrm>
            <a:off x="17007840" y="24771096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/>
        </p:spPr>
      </p:sp>
      <p:sp>
        <p:nvSpPr>
          <p:cNvPr id="127" name="Text 125"/>
          <p:cNvSpPr/>
          <p:nvPr/>
        </p:nvSpPr>
        <p:spPr>
          <a:xfrm>
            <a:off x="17007840" y="24807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128" name="Text 126"/>
          <p:cNvSpPr/>
          <p:nvPr/>
        </p:nvSpPr>
        <p:spPr>
          <a:xfrm>
            <a:off x="17007840" y="25063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≤ 12 h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2037040" y="24771096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/>
        </p:spPr>
      </p:sp>
      <p:sp>
        <p:nvSpPr>
          <p:cNvPr id="130" name="Text 128"/>
          <p:cNvSpPr/>
          <p:nvPr/>
        </p:nvSpPr>
        <p:spPr>
          <a:xfrm>
            <a:off x="22037040" y="24807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131" name="Text 129"/>
          <p:cNvSpPr/>
          <p:nvPr/>
        </p:nvSpPr>
        <p:spPr>
          <a:xfrm>
            <a:off x="22037040" y="25063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≤ 24 h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27066240" y="24771096"/>
            <a:ext cx="4846320" cy="566928"/>
          </a:xfrm>
          <a:prstGeom prst="roundRect">
            <a:avLst>
              <a:gd name="adj" fmla="val 12903"/>
            </a:avLst>
          </a:prstGeom>
          <a:solidFill>
            <a:srgbClr val="13294B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066240" y="24807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134" name="Text 132"/>
          <p:cNvSpPr/>
          <p:nvPr/>
        </p:nvSpPr>
        <p:spPr>
          <a:xfrm>
            <a:off x="27066240" y="25063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&gt; 24 h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17007840" y="25484328"/>
            <a:ext cx="1490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scales with TLE freshness and the length of the propagation window used for TCA prediction.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17007840" y="26078688"/>
            <a:ext cx="14904720" cy="1783080"/>
          </a:xfrm>
          <a:prstGeom prst="roundRect">
            <a:avLst>
              <a:gd name="adj" fmla="val 5128"/>
            </a:avLst>
          </a:prstGeom>
          <a:solidFill>
            <a:srgbClr val="D9331F"/>
          </a:solidFill>
          <a:ln/>
        </p:spPr>
      </p:sp>
      <p:sp>
        <p:nvSpPr>
          <p:cNvPr id="137" name="Text 135"/>
          <p:cNvSpPr/>
          <p:nvPr/>
        </p:nvSpPr>
        <p:spPr>
          <a:xfrm>
            <a:off x="17236440" y="26243280"/>
            <a:ext cx="1444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DRILL — FORCED BREACH PARAMETERS</a:t>
            </a:r>
            <a:endParaRPr lang="en-US" sz="1250" dirty="0"/>
          </a:p>
        </p:txBody>
      </p:sp>
      <p:sp>
        <p:nvSpPr>
          <p:cNvPr id="138" name="Text 136"/>
          <p:cNvSpPr/>
          <p:nvPr/>
        </p:nvSpPr>
        <p:spPr>
          <a:xfrm>
            <a:off x="17236440" y="26645616"/>
            <a:ext cx="1444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simulated_dist_km = 0.3421 km  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position offset by (+0.20, +0.20, +0.18) km from the satellite's live propagated state — deterministic, reproducible, always &lt; 1 km.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685800" y="30586680"/>
            <a:ext cx="31546800" cy="5029200"/>
          </a:xfrm>
          <a:prstGeom prst="roundRect">
            <a:avLst>
              <a:gd name="adj" fmla="val 2182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1005840" y="3087928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41" name="Text 139"/>
          <p:cNvSpPr/>
          <p:nvPr/>
        </p:nvSpPr>
        <p:spPr>
          <a:xfrm>
            <a:off x="1005840" y="30833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42" name="Text 140"/>
          <p:cNvSpPr/>
          <p:nvPr/>
        </p:nvSpPr>
        <p:spPr>
          <a:xfrm>
            <a:off x="1554480" y="30787848"/>
            <a:ext cx="3035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ORIS — Traditional SSA vs. ORIS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1546800"/>
          <a:ext cx="30906720" cy="914400"/>
        </p:xfrm>
        <a:graphic>
          <a:graphicData uri="http://schemas.openxmlformats.org/drawingml/2006/table">
            <a:tbl>
              <a:tblPr/>
              <a:tblGrid>
                <a:gridCol w="5563210"/>
                <a:gridCol w="11744554"/>
                <a:gridCol w="13598957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SSA Tooling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Conjunction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alerts from a screening service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SGP4-based distance &amp; risk classification, on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to a critical breach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→ maneuver decision → paperwork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avoidance-maneuver contract, executed with zero operator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logs / spreadsheets — editable after the fact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hash-chained ledger — cryptographically tamper-evident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surface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 formats, manual exports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documented REST API (/assess, /predict, /audit-logs, /incidents)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</a:tr>
            </a:tbl>
          </a:graphicData>
        </a:graphic>
      </p:graphicFrame>
      <p:sp>
        <p:nvSpPr>
          <p:cNvPr id="144" name="Text 141"/>
          <p:cNvSpPr/>
          <p:nvPr/>
        </p:nvSpPr>
        <p:spPr>
          <a:xfrm>
            <a:off x="1005840" y="35231832"/>
            <a:ext cx="3090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against typical pairwise conjunction-screening workflows; ORIS's own pipeline is described in full under Methodology and System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42976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VANTIS CORP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828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Situational Awareness Engineering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0" y="320040"/>
            <a:ext cx="845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3108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Orbital Risk Intelligence System (ORIS)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108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Space Debris Collision Assessment &amp; Autonomous Mitigation Platform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Vantis Corp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014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Orbital Analytics &amp; Blockchain Audit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717000" y="3246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 |  July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617720"/>
            <a:ext cx="31546800" cy="10607040"/>
          </a:xfrm>
          <a:prstGeom prst="roundRect">
            <a:avLst>
              <a:gd name="adj" fmla="val 1034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491032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646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818888"/>
            <a:ext cx="3035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1517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SQLAlchemy ORM (6 entities)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989320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6062472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88720" y="6355080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spacecraft — NORAD ID, operator, orbit type.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7470648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7543800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7836408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fragments — NORAD ID, source event, orbit type.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" y="8951976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9025128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TLERecord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88720" y="9317736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TLE sets per object; indexed on (object_type, norad_id, created_at).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5840" y="10433304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10506456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ConjunctionAssessment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88720" y="10799064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distance/risk computation, with TCA + confidence when predicted.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05840" y="11914632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11987784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CriticalIncident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88720" y="12280392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record created on breach, with mitigation contract ID.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5840" y="13395960"/>
            <a:ext cx="1517904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D7E2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13469112"/>
            <a:ext cx="1481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88720" y="13761720"/>
            <a:ext cx="14813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block_hash / prev_hash chain, tx_hash, verification_status.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733520" y="5577840"/>
            <a:ext cx="1549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SURFACE — FastAPI (/api prefix)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733520" y="5989320"/>
          <a:ext cx="1549908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417320"/>
                <a:gridCol w="1303020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/satellites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tracked satellites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/debris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tracked debris objects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/assess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distance &amp; risk — auto-triggers response if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Multi-hour SGP4 TCA sweep — auto-triggers response if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health, object counts, latest TLE epoch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/incidents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autonomous critical incidents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6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/audit-logs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chain entries + integrity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/simulate-drill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a 0.342 km breach to demo the 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685800" y="15590520"/>
            <a:ext cx="31546800" cy="12435840"/>
          </a:xfrm>
          <a:prstGeom prst="roundRect">
            <a:avLst>
              <a:gd name="adj" fmla="val 882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005840" y="1588312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8" name="Text 35"/>
          <p:cNvSpPr/>
          <p:nvPr/>
        </p:nvSpPr>
        <p:spPr>
          <a:xfrm>
            <a:off x="1005840" y="158374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554480" y="15791688"/>
            <a:ext cx="3035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</a:t>
            </a:r>
            <a:endParaRPr lang="en-US" sz="2400" dirty="0"/>
          </a:p>
        </p:txBody>
      </p:sp>
      <p:sp>
        <p:nvSpPr>
          <p:cNvPr id="40" name="Shape 37"/>
          <p:cNvSpPr/>
          <p:nvPr/>
        </p:nvSpPr>
        <p:spPr>
          <a:xfrm>
            <a:off x="1005840" y="16550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41" name="Text 38"/>
          <p:cNvSpPr/>
          <p:nvPr/>
        </p:nvSpPr>
        <p:spPr>
          <a:xfrm>
            <a:off x="1005840" y="16660368"/>
            <a:ext cx="603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2" name="Text 39"/>
          <p:cNvSpPr/>
          <p:nvPr/>
        </p:nvSpPr>
        <p:spPr>
          <a:xfrm>
            <a:off x="1143000" y="17263872"/>
            <a:ext cx="5760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Tracked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223760" y="16550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16660368"/>
            <a:ext cx="603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5" name="Text 42"/>
          <p:cNvSpPr/>
          <p:nvPr/>
        </p:nvSpPr>
        <p:spPr>
          <a:xfrm>
            <a:off x="7360920" y="17263872"/>
            <a:ext cx="5760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Objects Modeled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13441680" y="16550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47" name="Text 44"/>
          <p:cNvSpPr/>
          <p:nvPr/>
        </p:nvSpPr>
        <p:spPr>
          <a:xfrm>
            <a:off x="13441680" y="16660368"/>
            <a:ext cx="603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3-Tier</a:t>
            </a:r>
            <a:endParaRPr lang="en-US" sz="2600" dirty="0"/>
          </a:p>
        </p:txBody>
      </p:sp>
      <p:sp>
        <p:nvSpPr>
          <p:cNvPr id="48" name="Text 45"/>
          <p:cNvSpPr/>
          <p:nvPr/>
        </p:nvSpPr>
        <p:spPr>
          <a:xfrm>
            <a:off x="13578840" y="17263872"/>
            <a:ext cx="5760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Model (&lt;1 / 1–5 / &gt;5 km)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9659600" y="16550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50" name="Text 47"/>
          <p:cNvSpPr/>
          <p:nvPr/>
        </p:nvSpPr>
        <p:spPr>
          <a:xfrm>
            <a:off x="19659600" y="16660368"/>
            <a:ext cx="603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</a:t>
            </a:r>
            <a:endParaRPr lang="en-US" sz="2600" dirty="0"/>
          </a:p>
        </p:txBody>
      </p:sp>
      <p:sp>
        <p:nvSpPr>
          <p:cNvPr id="51" name="Text 48"/>
          <p:cNvSpPr/>
          <p:nvPr/>
        </p:nvSpPr>
        <p:spPr>
          <a:xfrm>
            <a:off x="19796760" y="17263872"/>
            <a:ext cx="5760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Audit Ledger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25877520" y="16550640"/>
            <a:ext cx="6035040" cy="1188720"/>
          </a:xfrm>
          <a:prstGeom prst="roundRect">
            <a:avLst>
              <a:gd name="adj" fmla="val 7692"/>
            </a:avLst>
          </a:prstGeom>
          <a:solidFill>
            <a:srgbClr val="13294B"/>
          </a:solidFill>
          <a:ln/>
        </p:spPr>
      </p:sp>
      <p:sp>
        <p:nvSpPr>
          <p:cNvPr id="53" name="Text 50"/>
          <p:cNvSpPr/>
          <p:nvPr/>
        </p:nvSpPr>
        <p:spPr>
          <a:xfrm>
            <a:off x="25877520" y="16660368"/>
            <a:ext cx="60350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6-hr</a:t>
            </a:r>
            <a:endParaRPr lang="en-US" sz="2600" dirty="0"/>
          </a:p>
        </p:txBody>
      </p:sp>
      <p:sp>
        <p:nvSpPr>
          <p:cNvPr id="54" name="Text 51"/>
          <p:cNvSpPr/>
          <p:nvPr/>
        </p:nvSpPr>
        <p:spPr>
          <a:xfrm>
            <a:off x="26014680" y="17263872"/>
            <a:ext cx="5760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TLE Refresh Cycle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1005840" y="18150840"/>
            <a:ext cx="3090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/api/assess OUTPUT — LIVE SGP4 PROPAGATION (current epoch)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8516600"/>
          <a:ext cx="30906720" cy="914400"/>
        </p:xfrm>
        <a:graphic>
          <a:graphicData uri="http://schemas.openxmlformats.org/drawingml/2006/table">
            <a:tbl>
              <a:tblPr/>
              <a:tblGrid>
                <a:gridCol w="8344814"/>
                <a:gridCol w="8344814"/>
                <a:gridCol w="4945075"/>
                <a:gridCol w="4945075"/>
                <a:gridCol w="4326941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Distance (km)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Rel. Velocity (km/s)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 (ZARYA)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2251 DEB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5,943.99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10.901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HUBBLE SPACE TELESCOPE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FENGYUN 1C DEB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10,724.97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9.741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CRYOSAT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1408 DEB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10,224.70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12.127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 (ZARYA)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FENGYUN 1C DEB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8,286.29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10.191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DRILL (forced)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tracked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0.342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33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3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→ auto-response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DD"/>
                    </a:solidFill>
                  </a:tcPr>
                </a:tc>
              </a:tr>
            </a:tbl>
          </a:graphicData>
        </a:graphic>
      </p:graphicFrame>
      <p:sp>
        <p:nvSpPr>
          <p:cNvPr id="57" name="Text 53"/>
          <p:cNvSpPr/>
          <p:nvPr/>
        </p:nvSpPr>
        <p:spPr>
          <a:xfrm>
            <a:off x="1005840" y="22311360"/>
            <a:ext cx="3090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seeded satellite–debris pair, ORIS correctly computed real-time separation distance, relative velocity, and risk classification, and produced TCA timelines whose confidence scales with propagation window and TLE freshness (HIGH ≤ 12 h, MEDIUM ≤ 24 h, LOW beyond). Emergency Drill runs reliably triggered the full autonomous pipeline end-to-end: incident creation, SHA-256 block generation chained to the previous hash, and a simulated avoidance-maneuver contract (ORIS-MIT-XXXXXXXX) complete with computed Δv, fuel cost, and insurance-claim estimate — all without manual intervention. The Audit Register consistently reported chain integrity as VALID, confirming the ledger's tamper-evident design; the 3D dashboard gave mission-control-style visibility into every tracked object, prediction, and autonomous response.</a:t>
            </a:r>
            <a:endParaRPr lang="en-US" sz="1450" dirty="0"/>
          </a:p>
        </p:txBody>
      </p:sp>
      <p:sp>
        <p:nvSpPr>
          <p:cNvPr id="58" name="Text 54"/>
          <p:cNvSpPr/>
          <p:nvPr/>
        </p:nvSpPr>
        <p:spPr>
          <a:xfrm>
            <a:off x="1005840" y="25146000"/>
            <a:ext cx="3090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CHAIN (AuditLog)</a:t>
            </a:r>
            <a:endParaRPr lang="en-US" sz="1250" dirty="0"/>
          </a:p>
        </p:txBody>
      </p:sp>
      <p:sp>
        <p:nvSpPr>
          <p:cNvPr id="59" name="Shape 55"/>
          <p:cNvSpPr/>
          <p:nvPr/>
        </p:nvSpPr>
        <p:spPr>
          <a:xfrm>
            <a:off x="1005840" y="25603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/>
        </p:spPr>
      </p:sp>
      <p:sp>
        <p:nvSpPr>
          <p:cNvPr id="60" name="Text 56"/>
          <p:cNvSpPr/>
          <p:nvPr/>
        </p:nvSpPr>
        <p:spPr>
          <a:xfrm>
            <a:off x="1097280" y="2560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Block</a:t>
            </a:r>
            <a:endParaRPr lang="en-US" sz="1250" dirty="0"/>
          </a:p>
        </p:txBody>
      </p:sp>
      <p:sp>
        <p:nvSpPr>
          <p:cNvPr id="61" name="Text 57"/>
          <p:cNvSpPr/>
          <p:nvPr/>
        </p:nvSpPr>
        <p:spPr>
          <a:xfrm>
            <a:off x="4297680" y="25603200"/>
            <a:ext cx="591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2" name="Shape 58"/>
          <p:cNvSpPr/>
          <p:nvPr/>
        </p:nvSpPr>
        <p:spPr>
          <a:xfrm>
            <a:off x="10210800" y="25603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/>
        </p:spPr>
      </p:sp>
      <p:sp>
        <p:nvSpPr>
          <p:cNvPr id="63" name="Text 59"/>
          <p:cNvSpPr/>
          <p:nvPr/>
        </p:nvSpPr>
        <p:spPr>
          <a:xfrm>
            <a:off x="10302240" y="2560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prev_hash → block_hash</a:t>
            </a:r>
            <a:endParaRPr lang="en-US" sz="1250" dirty="0"/>
          </a:p>
        </p:txBody>
      </p:sp>
      <p:sp>
        <p:nvSpPr>
          <p:cNvPr id="64" name="Text 60"/>
          <p:cNvSpPr/>
          <p:nvPr/>
        </p:nvSpPr>
        <p:spPr>
          <a:xfrm>
            <a:off x="13502640" y="25603200"/>
            <a:ext cx="591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5" name="Shape 61"/>
          <p:cNvSpPr/>
          <p:nvPr/>
        </p:nvSpPr>
        <p:spPr>
          <a:xfrm>
            <a:off x="19415760" y="25603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/>
        </p:spPr>
      </p:sp>
      <p:sp>
        <p:nvSpPr>
          <p:cNvPr id="66" name="Text 62"/>
          <p:cNvSpPr/>
          <p:nvPr/>
        </p:nvSpPr>
        <p:spPr>
          <a:xfrm>
            <a:off x="19507200" y="2560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#N+1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prev_hash → block_hash</a:t>
            </a:r>
            <a:endParaRPr lang="en-US" sz="1250" dirty="0"/>
          </a:p>
        </p:txBody>
      </p:sp>
      <p:sp>
        <p:nvSpPr>
          <p:cNvPr id="67" name="Text 63"/>
          <p:cNvSpPr/>
          <p:nvPr/>
        </p:nvSpPr>
        <p:spPr>
          <a:xfrm>
            <a:off x="22707600" y="25603200"/>
            <a:ext cx="591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8" name="Shape 64"/>
          <p:cNvSpPr/>
          <p:nvPr/>
        </p:nvSpPr>
        <p:spPr>
          <a:xfrm>
            <a:off x="28620720" y="256032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E9E5A"/>
          </a:solidFill>
          <a:ln/>
        </p:spPr>
      </p:sp>
      <p:sp>
        <p:nvSpPr>
          <p:cNvPr id="69" name="Text 65"/>
          <p:cNvSpPr/>
          <p:nvPr/>
        </p:nvSpPr>
        <p:spPr>
          <a:xfrm>
            <a:off x="28712160" y="2560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Integrity: VALID</a:t>
            </a:r>
            <a:endParaRPr lang="en-US" sz="1250" dirty="0"/>
          </a:p>
        </p:txBody>
      </p:sp>
      <p:sp>
        <p:nvSpPr>
          <p:cNvPr id="70" name="Shape 66"/>
          <p:cNvSpPr/>
          <p:nvPr/>
        </p:nvSpPr>
        <p:spPr>
          <a:xfrm>
            <a:off x="685800" y="28392120"/>
            <a:ext cx="31546800" cy="3200400"/>
          </a:xfrm>
          <a:prstGeom prst="roundRect">
            <a:avLst>
              <a:gd name="adj" fmla="val 3429"/>
            </a:avLst>
          </a:prstGeom>
          <a:solidFill>
            <a:srgbClr val="F1F5FC"/>
          </a:solidFill>
          <a:ln w="9525">
            <a:solidFill>
              <a:srgbClr val="D7E2F5"/>
            </a:solidFill>
            <a:prstDash val="solid"/>
          </a:ln>
          <a:effectLst>
            <a:outerShdw sx="100000" sy="100000" kx="0" ky="0" algn="bl" rotWithShape="0" blurRad="76200" dist="25400" dir="5400000">
              <a:srgbClr val="9AA9C7">
                <a:alpha val="25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1005840" y="28684728"/>
            <a:ext cx="411480" cy="41148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72" name="Text 68"/>
          <p:cNvSpPr/>
          <p:nvPr/>
        </p:nvSpPr>
        <p:spPr>
          <a:xfrm>
            <a:off x="1005840" y="286390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600" dirty="0"/>
          </a:p>
        </p:txBody>
      </p:sp>
      <p:sp>
        <p:nvSpPr>
          <p:cNvPr id="73" name="Text 69"/>
          <p:cNvSpPr/>
          <p:nvPr/>
        </p:nvSpPr>
        <p:spPr>
          <a:xfrm>
            <a:off x="1554480" y="28593288"/>
            <a:ext cx="3035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74" name="Text 70"/>
          <p:cNvSpPr/>
          <p:nvPr/>
        </p:nvSpPr>
        <p:spPr>
          <a:xfrm>
            <a:off x="1005840" y="29306520"/>
            <a:ext cx="3090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Post-collision debris growth and rising Low Earth Orbit traffic density make manual conjunction response too slow for closing-velocity encounters. ORIS is a full-stack Space Situational Awareness platform that ingests live TLE data, propagates orbits with the SGP4 model, and continuously classifies conjunction risk against LEO thresholds. On a critical breach, it autonomously executes an avoidance-maneuver contract and records the action in a SHA-256 hash-chained, tamper-evident audit ledger — closing the loop from detection to verifiable response without human intervention. A documented REST API and an interactive 3D dashboard give mission-control-style visibility and third-party integration into every tracked object, prediction, and autonomous response.</a:t>
            </a:r>
            <a:endParaRPr lang="en-US" sz="1700" dirty="0"/>
          </a:p>
        </p:txBody>
      </p:sp>
      <p:sp>
        <p:nvSpPr>
          <p:cNvPr id="75" name="Shape 71"/>
          <p:cNvSpPr/>
          <p:nvPr/>
        </p:nvSpPr>
        <p:spPr>
          <a:xfrm>
            <a:off x="685800" y="31912560"/>
            <a:ext cx="17978933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960120" y="32077152"/>
            <a:ext cx="174302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References</a:t>
            </a:r>
            <a:endParaRPr lang="en-US" sz="1500" dirty="0"/>
          </a:p>
        </p:txBody>
      </p:sp>
      <p:sp>
        <p:nvSpPr>
          <p:cNvPr id="77" name="Text 73"/>
          <p:cNvSpPr/>
          <p:nvPr/>
        </p:nvSpPr>
        <p:spPr>
          <a:xfrm>
            <a:off x="960120" y="32506920"/>
            <a:ext cx="17430293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Vallado, D. A., Fundamentals of Astrodynamics and Applications, 4th ed. — SGP4/SDP4 orbital propagation theory.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Rhodes, B., Skyfield Documentation, skyfield.readthedocs.io — astronomy library used for propagation &amp; timescales.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CelesTrak, “Two-Line Element (TLE) Data Sets,” celestrak.org — live orbital element source for satellite/debris tracking.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Inter-Agency Space Debris Coordination Committee (IADC), Space Debris Mitigation Guidelines — basis for LEO risk thresholds.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Kessler, D. J. &amp; Cour-Palais, B. G., "Collision Frequency of Artificial Satellites," J. Geophysical Research, 1978.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FIPS 180-4, Secure Hash Standard (SHS) — SHA-256 algorithm underlying the immutable audit ledger.</a:t>
            </a:r>
            <a:endParaRPr lang="en-US" sz="1250" dirty="0"/>
          </a:p>
        </p:txBody>
      </p:sp>
      <p:sp>
        <p:nvSpPr>
          <p:cNvPr id="78" name="Shape 74"/>
          <p:cNvSpPr/>
          <p:nvPr/>
        </p:nvSpPr>
        <p:spPr>
          <a:xfrm>
            <a:off x="19213373" y="31912560"/>
            <a:ext cx="13019227" cy="3749040"/>
          </a:xfrm>
          <a:prstGeom prst="roundRect">
            <a:avLst>
              <a:gd name="adj" fmla="val 1951"/>
            </a:avLst>
          </a:prstGeom>
          <a:solidFill>
            <a:srgbClr val="0B1D3A"/>
          </a:solidFill>
          <a:ln/>
        </p:spPr>
      </p:sp>
      <p:sp>
        <p:nvSpPr>
          <p:cNvPr id="79" name="Text 75"/>
          <p:cNvSpPr/>
          <p:nvPr/>
        </p:nvSpPr>
        <p:spPr>
          <a:xfrm>
            <a:off x="19487693" y="32077152"/>
            <a:ext cx="124705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80" name="Text 76"/>
          <p:cNvSpPr/>
          <p:nvPr/>
        </p:nvSpPr>
        <p:spPr>
          <a:xfrm>
            <a:off x="19487693" y="32506920"/>
            <a:ext cx="12470587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Space-Track.org integration for higher-fidelity TLEs and covariance data beyond CelesTrak's public GP feed.</a:t>
            </a:r>
            <a:endParaRPr lang="en-US" sz="1250" dirty="0"/>
          </a:p>
          <a:p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ML-based probability-of-collision (Pc) scoring from historical conjunction outcomes, replacing fixed distance thresholds.</a:t>
            </a:r>
            <a:endParaRPr lang="en-US" sz="1250" dirty="0"/>
          </a:p>
          <a:p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All-vs-all multi-object conjunction screening for full-catalog coverage, not just pairwise assessment.</a:t>
            </a:r>
            <a:endParaRPr lang="en-US" sz="1250" dirty="0"/>
          </a:p>
          <a:p>
            <a:pPr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 maneuver-planning integration (e.g. GMAT / AGI STK) to replace the simulated Δv/fuel-cost contract with executable burn plans.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2026-07-17T07:44:04Z</dcterms:created>
  <dcterms:modified xsi:type="dcterms:W3CDTF">2026-07-17T07:44:04Z</dcterms:modified>
</cp:coreProperties>
</file>